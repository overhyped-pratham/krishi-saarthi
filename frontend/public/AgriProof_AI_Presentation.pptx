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AUTONOMOUS SATELLITE EARTH OBSERVATION PROTOCOL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AGRIPROOF.AI</a:t>
            </a:r>
          </a:p>
          <a:p>
            <a:pPr algn="ctr">
              <a:defRPr sz="1800">
                <a:solidFill>
                  <a:srgbClr val="00E5FF"/>
                </a:solidFill>
              </a:defRPr>
            </a:pPr>
            <a:r>
              <a:t>60-Day Disputed Claims  ➔  5-Second Cryptographic Settlement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4754880" cy="2926080"/>
          </a:xfrm>
          <a:prstGeom prst="roundRect">
            <a:avLst/>
          </a:prstGeom>
          <a:solidFill>
            <a:srgbClr val="230F14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TRADITIONAL SYSTEM</a:t>
            </a:r>
          </a:p>
          <a:p>
            <a:pPr>
              <a:defRPr sz="3200" b="1">
                <a:solidFill>
                  <a:srgbClr val="F43F5E"/>
                </a:solidFill>
              </a:defRPr>
            </a:pPr>
            <a:r>
              <a:t>60–90 DAYS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Manual physical adjuster visits</a:t>
            </a:r>
            <a:br/>
            <a:r>
              <a:t>• 35% fraud &amp; subjective bias</a:t>
            </a:r>
            <a:br/>
            <a:r>
              <a:t>• ₹18,000 Crore annual dispute 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108960"/>
            <a:ext cx="4754880" cy="2926080"/>
          </a:xfrm>
          <a:prstGeom prst="roundRect">
            <a:avLst/>
          </a:prstGeom>
          <a:solidFill>
            <a:srgbClr val="0A1E2D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AGRIPROOF AI PROTOCOL</a:t>
            </a:r>
          </a:p>
          <a:p>
            <a:pPr>
              <a:defRPr sz="3200" b="1">
                <a:solidFill>
                  <a:srgbClr val="00E5FF"/>
                </a:solidFill>
              </a:defRPr>
            </a:pPr>
            <a:r>
              <a:t>5 SECONDS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ESA Copernicus Sentinel-2 L2A (10m)</a:t>
            </a:r>
            <a:br/>
            <a:r>
              <a:t>• XGBoost Yield Loss ML Model (87% R²)</a:t>
            </a:r>
            <a:br/>
            <a:r>
              <a:t>• Groth16 Zero-Knowledge SNARK Proofs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SLIDE 02 · MARKET CRISIS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₹18,000 Crore Agricultural Insurance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14600" cy="384048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147 Million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Farming Households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Smallholders in India prone to climate shock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14600" cy="3840480"/>
          </a:xfrm>
          <a:prstGeom prst="roundRect">
            <a:avLst/>
          </a:prstGeom>
          <a:solidFill>
            <a:srgbClr val="121A2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60–90 Days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Average Claim Wait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Manual loss adjusters delay harvest payouts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14600" cy="3840480"/>
          </a:xfrm>
          <a:prstGeom prst="roundRect">
            <a:avLst/>
          </a:prstGeom>
          <a:solidFill>
            <a:srgbClr val="121A2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43F5E"/>
                </a:solidFill>
              </a:defRPr>
            </a:pPr>
            <a:r>
              <a:t>₹18,000 Cr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Disputed Claims/Yr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Capital stuck in bureaucratic disputes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14600" cy="3840480"/>
          </a:xfrm>
          <a:prstGeom prst="roundRect">
            <a:avLst/>
          </a:prstGeom>
          <a:solidFill>
            <a:srgbClr val="121A2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97316"/>
                </a:solidFill>
              </a:defRPr>
            </a:pPr>
            <a:r>
              <a:t>35% Fraud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Subjective Bias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Manual eyeball checks lack verifiable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SLIDE 03 · CORE PILLARS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AgriProof AI Triple Innovation Triad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1. SATELLITE TELEMETRY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Sentinel-2 Multi-Spectral Ingestion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10m Ground Sample Distance (GSD)</a:t>
            </a:r>
            <a:br/>
            <a:r>
              <a:t>• 5-day orbital revisit</a:t>
            </a:r>
            <a:br/>
            <a:r>
              <a:t>• ₹0 data cost (ESA Copernicus)</a:t>
            </a:r>
            <a:br/>
            <a:r>
              <a:t>• B02 to B12 bands analyzed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121A2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2. MACHINE LEARNING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XGBoost ML Risk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12-dimensional spectral feature vectors</a:t>
            </a:r>
            <a:br/>
            <a:r>
              <a:t>• Yield loss % prediction</a:t>
            </a:r>
            <a:br/>
            <a:r>
              <a:t>• Damage probability classification</a:t>
            </a:r>
            <a:br/>
            <a:r>
              <a:t>• Weather anomaly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3. ZERO-KNOWLEDGE CRYPTO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Groth16 ZK-SNARKs (Circom 2.1)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Proves loss exceeded policy trigger (≥30%)</a:t>
            </a:r>
            <a:br/>
            <a:r>
              <a:t>• 100% Zero-PII protection</a:t>
            </a:r>
            <a:br/>
            <a:r>
              <a:t>• Farmer GPS coordinates kept private</a:t>
            </a:r>
            <a:br/>
            <a:r>
              <a:t>• &lt;8ms on-chain BN128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01 · BOUNDARY ISOLATION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01: Geodesic ROI Boundary &amp; Parcel Commitment</a:t>
            </a:r>
          </a:p>
        </p:txBody>
      </p:sp>
      <p:pic>
        <p:nvPicPr>
          <p:cNvPr id="4" name="Picture 3" descr="roi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PARCEL SURFACE AREA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2.84 Ha (7.0 Acres)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GEODESIC CENTER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22.635° N, 75.852° 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CRYPTOGRAPHIC HASH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SHA-256 Boundary Hash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STAGE EXECUTION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&lt; 650ms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02 · RAW SATELLITE INGESTION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02: Multi-Spectral Scene Ingestion (Sentinel-2)</a:t>
            </a:r>
          </a:p>
        </p:txBody>
      </p:sp>
      <p:pic>
        <p:nvPicPr>
          <p:cNvPr id="4" name="Picture 3" descr="satellite_imag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WAVEBAND CHANNELS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B02, B03, B04, B08, B11, B12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SPATIAL RESOLUTION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10m Ground Sample GSD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RADIANCE LEVEL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L2A Bottom-of-Atmosphere (BOA)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DATA COST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₹0 (ESA Open Telemetry)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03 · QUALITY ASSURANCE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03: s2cloudless ML Atmospheric Masking</a:t>
            </a:r>
          </a:p>
        </p:txBody>
      </p:sp>
      <p:pic>
        <p:nvPicPr>
          <p:cNvPr id="4" name="Picture 3" descr="cloud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CLEAN RETAINED PIXELS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96.2% Clean Surface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CLOUD CONTAMINATION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0.0% Cloud / Shadow Interference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CLASSIFIER TYPE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LightGBM Gradient Boosted Trees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PIXEL PRECISION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Sub-pixel Quality Assurance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04 · FEATURE EXTRACTION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04: Multi-Spectral Indices &amp; Chlorophyll Heatmap</a:t>
            </a:r>
          </a:p>
        </p:txBody>
      </p:sp>
      <p:pic>
        <p:nvPicPr>
          <p:cNvPr id="4" name="Picture 3" descr="feature_ex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NDVI CHLOROPHYLL VIGOR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0.38 (Baseline 0.68 ➔ -36.7% drop)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NDMI CELLULAR HYDRATION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-0.18 (Severe Drought Deficit)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EVI CANOPY BIOMASS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0.29 (Premature Senescence)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EARLY WARNING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Detects stress 14 days before brown spots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05 · AI DAMAGE INFERENCE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05: XGBoost ML Yield Loss Regressor</a:t>
            </a:r>
          </a:p>
        </p:txBody>
      </p:sp>
      <p:pic>
        <p:nvPicPr>
          <p:cNvPr id="4" name="Picture 3" descr="thresho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PREDICTED YIELD LOSS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34.5% (Drought Trigger Exceeded)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DAMAGE PROBABILITY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75.9% High Statistical Confidence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UNIFIED RISK SCORE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78.0 / 100 (HIGH RISK)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MODEL ACCURACY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87% R² on Agronomy Trials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06 · SPATIAL SEGMENTATION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06: GeoJSON Contour Damage Vectorization</a:t>
            </a:r>
          </a:p>
        </p:txBody>
      </p:sp>
      <p:pic>
        <p:nvPicPr>
          <p:cNvPr id="4" name="Picture 3" descr="vectorize_ex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97316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AFFECTED DAMAGE SURFACE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1.05 Hectares (37.0% of Parcel)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SPATIAL THRESHOLDING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Otsu Binary Gradient Cutoff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VECTOR OUTPUT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GeoJSON Multipolygon Bounds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ADJUSTER REPLACED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100% Autonomous Spatial 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STAGE 07 · CRYPTOGRAPHIC SETTLEMENT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STAGE 07: Groth16 ZK-SNARK &amp; Instant Blockchain Settlement</a:t>
            </a:r>
          </a:p>
        </p:txBody>
      </p:sp>
      <p:pic>
        <p:nvPicPr>
          <p:cNvPr id="4" name="Picture 3" descr="db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498079" cy="46862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121A2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LIVE INFERENCE TELEMETRY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PARAMETRIC PAYOUT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₹1,20,700 ($1,445 USD)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SETTLEMENT SPEED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5 Seconds via Smart Contract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ZERO-KNOWLEDGE CURVE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BN128 / Alt-bn128 (&lt;8ms verify)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FARMER PRIVACY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100% Zero-PII (Zero GPS leaked)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709160"/>
            <a:ext cx="2926080" cy="1645920"/>
          </a:xfrm>
          <a:prstGeom prst="roundRect">
            <a:avLst/>
          </a:prstGeom>
          <a:solidFill>
            <a:srgbClr val="121A2B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📊 NDVI BENCHMARK CRITERIA</a:t>
            </a:r>
          </a:p>
          <a:p>
            <a:pPr>
              <a:defRPr sz="750">
                <a:solidFill>
                  <a:srgbClr val="10B981"/>
                </a:solidFill>
              </a:defRPr>
            </a:pPr>
            <a:r>
              <a:t>• &gt; 0.70: Peak Biomass (Optimal)</a:t>
            </a:r>
          </a:p>
          <a:p>
            <a:pPr>
              <a:defRPr sz="750">
                <a:solidFill>
                  <a:srgbClr val="22C55E"/>
                </a:solidFill>
              </a:defRPr>
            </a:pPr>
            <a:r>
              <a:t>• 0.50–0.70: Healthy Vegetation</a:t>
            </a:r>
          </a:p>
          <a:p>
            <a:pPr>
              <a:defRPr sz="750">
                <a:solidFill>
                  <a:srgbClr val="F59E0B"/>
                </a:solidFill>
              </a:defRPr>
            </a:pPr>
            <a:r>
              <a:t>• 0.35–0.50: Moderate Stress</a:t>
            </a:r>
          </a:p>
          <a:p>
            <a:pPr>
              <a:defRPr sz="750">
                <a:solidFill>
                  <a:srgbClr val="F43F5E"/>
                </a:solidFill>
              </a:defRPr>
            </a:pPr>
            <a:r>
              <a:t>• 0.20–0.35: Severe Drought (Claim Trigger)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• &lt; 0.20: Bare Soil / Water / Fallow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